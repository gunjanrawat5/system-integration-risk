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exend SemiBold"/>
      <p:regular r:id="rId26"/>
      <p:bold r:id="rId27"/>
    </p:embeddedFont>
    <p:embeddedFont>
      <p:font typeface="Lexend Light"/>
      <p:regular r:id="rId28"/>
      <p:bold r:id="rId29"/>
    </p:embeddedFon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LexendLight-regular.fntdata"/><Relationship Id="rId27" Type="http://schemas.openxmlformats.org/officeDocument/2006/relationships/font" Target="fonts/Lexend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ae5b7e34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ae5b7e34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3ae5b7e341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3ae5b7e341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ae5b7e3411_0_2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ae5b7e3411_0_2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ae5b7e3411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3ae5b7e3411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ae5b7e341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ae5b7e341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3ae5b7e3411_0_2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3ae5b7e3411_0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ae5b7e3411_0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3ae5b7e3411_0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ae5b7e3411_0_2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ae5b7e3411_0_2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3ae5b7e3411_0_2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3ae5b7e3411_0_2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ae5b7e3411_0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3ae5b7e3411_0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3ae5b7e3411_0_2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3ae5b7e3411_0_2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ae5b7e3411_0_2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ae5b7e3411_0_2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ae5b7e3411_0_2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ae5b7e3411_0_2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3ae5b7e3411_0_2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3ae5b7e3411_0_2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3ae5b7e3411_0_2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3ae5b7e3411_0_2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ae5b7e3411_0_2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3ae5b7e3411_0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ae5b7e3411_0_2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3ae5b7e3411_0_2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3ae5b7e3411_0_2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3ae5b7e3411_0_2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ae5b7e3411_0_2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3ae5b7e3411_0_2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3ae5b7e3411_0_2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3ae5b7e3411_0_2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type="title"/>
          </p:nvPr>
        </p:nvSpPr>
        <p:spPr>
          <a:xfrm>
            <a:off x="38550" y="751700"/>
            <a:ext cx="9066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KNOWLEDGE GRAPHS FOR SYSTEM INTEGRATION RISK</a:t>
            </a:r>
            <a:endParaRPr sz="3000"/>
          </a:p>
        </p:txBody>
      </p:sp>
      <p:sp>
        <p:nvSpPr>
          <p:cNvPr id="1866" name="Google Shape;1866;p33"/>
          <p:cNvSpPr txBox="1"/>
          <p:nvPr>
            <p:ph idx="3" type="body"/>
          </p:nvPr>
        </p:nvSpPr>
        <p:spPr>
          <a:xfrm>
            <a:off x="167325" y="-54300"/>
            <a:ext cx="28158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Name - Gunjan Rawat</a:t>
            </a:r>
            <a:endParaRPr sz="1300"/>
          </a:p>
        </p:txBody>
      </p:sp>
      <p:grpSp>
        <p:nvGrpSpPr>
          <p:cNvPr id="1867" name="Google Shape;1867;p33"/>
          <p:cNvGrpSpPr/>
          <p:nvPr/>
        </p:nvGrpSpPr>
        <p:grpSpPr>
          <a:xfrm>
            <a:off x="1966534" y="2571650"/>
            <a:ext cx="5210945" cy="2242155"/>
            <a:chOff x="2267909" y="2831175"/>
            <a:chExt cx="4608193" cy="1982804"/>
          </a:xfrm>
        </p:grpSpPr>
        <p:grpSp>
          <p:nvGrpSpPr>
            <p:cNvPr id="1868" name="Google Shape;1868;p33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869" name="Google Shape;1869;p33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0" name="Google Shape;1870;p33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1" name="Google Shape;1871;p33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2" name="Google Shape;1872;p33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3" name="Google Shape;1873;p33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4" name="Google Shape;1874;p33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5" name="Google Shape;1875;p33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6" name="Google Shape;1876;p33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7" name="Google Shape;1877;p33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8" name="Google Shape;1878;p33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9" name="Google Shape;1879;p33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0" name="Google Shape;1880;p33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1" name="Google Shape;1881;p33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2" name="Google Shape;1882;p33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3" name="Google Shape;1883;p33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4" name="Google Shape;1884;p33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5" name="Google Shape;1885;p33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6" name="Google Shape;1886;p33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7" name="Google Shape;1887;p33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8" name="Google Shape;1888;p33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9" name="Google Shape;1889;p33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0" name="Google Shape;1890;p33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1" name="Google Shape;1891;p33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2" name="Google Shape;1892;p33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3" name="Google Shape;1893;p33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4" name="Google Shape;1894;p33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1895" name="Google Shape;1895;p33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6" name="Google Shape;1896;p33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898" name="Google Shape;18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450" y="2076054"/>
            <a:ext cx="6455101" cy="278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34"/>
          <p:cNvSpPr txBox="1"/>
          <p:nvPr>
            <p:ph idx="3" type="body"/>
          </p:nvPr>
        </p:nvSpPr>
        <p:spPr>
          <a:xfrm>
            <a:off x="195600" y="-93450"/>
            <a:ext cx="11697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500"/>
              <a:t>CONTENT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4" name="Google Shape;1904;p34"/>
          <p:cNvGrpSpPr/>
          <p:nvPr/>
        </p:nvGrpSpPr>
        <p:grpSpPr>
          <a:xfrm>
            <a:off x="7509125" y="1921038"/>
            <a:ext cx="1258500" cy="902350"/>
            <a:chOff x="6575700" y="2242475"/>
            <a:chExt cx="1258500" cy="902350"/>
          </a:xfrm>
        </p:grpSpPr>
        <p:sp>
          <p:nvSpPr>
            <p:cNvPr id="1905" name="Google Shape;1905;p34"/>
            <p:cNvSpPr/>
            <p:nvPr/>
          </p:nvSpPr>
          <p:spPr>
            <a:xfrm>
              <a:off x="65967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65757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07" name="Google Shape;1907;p34"/>
            <p:cNvCxnSpPr/>
            <p:nvPr/>
          </p:nvCxnSpPr>
          <p:spPr>
            <a:xfrm>
              <a:off x="65765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08" name="Google Shape;1908;p34"/>
          <p:cNvSpPr txBox="1"/>
          <p:nvPr/>
        </p:nvSpPr>
        <p:spPr>
          <a:xfrm>
            <a:off x="3763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Pipeline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09" name="Google Shape;1909;p34"/>
          <p:cNvSpPr txBox="1"/>
          <p:nvPr/>
        </p:nvSpPr>
        <p:spPr>
          <a:xfrm>
            <a:off x="2753850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Methodology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0" name="Google Shape;1910;p34"/>
          <p:cNvSpPr txBox="1"/>
          <p:nvPr/>
        </p:nvSpPr>
        <p:spPr>
          <a:xfrm>
            <a:off x="51291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Results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1" name="Google Shape;1911;p34"/>
          <p:cNvSpPr txBox="1"/>
          <p:nvPr/>
        </p:nvSpPr>
        <p:spPr>
          <a:xfrm>
            <a:off x="750912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Conclusion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12" name="Google Shape;1912;p34"/>
          <p:cNvGrpSpPr/>
          <p:nvPr/>
        </p:nvGrpSpPr>
        <p:grpSpPr>
          <a:xfrm>
            <a:off x="376375" y="1921038"/>
            <a:ext cx="1258500" cy="902350"/>
            <a:chOff x="1209150" y="2242475"/>
            <a:chExt cx="1258500" cy="902350"/>
          </a:xfrm>
        </p:grpSpPr>
        <p:sp>
          <p:nvSpPr>
            <p:cNvPr id="1913" name="Google Shape;1913;p34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5" name="Google Shape;1915;p34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16" name="Google Shape;1916;p34"/>
          <p:cNvGrpSpPr/>
          <p:nvPr/>
        </p:nvGrpSpPr>
        <p:grpSpPr>
          <a:xfrm>
            <a:off x="2753958" y="1921038"/>
            <a:ext cx="1258500" cy="902350"/>
            <a:chOff x="2998000" y="2242475"/>
            <a:chExt cx="1258500" cy="902350"/>
          </a:xfrm>
        </p:grpSpPr>
        <p:sp>
          <p:nvSpPr>
            <p:cNvPr id="1917" name="Google Shape;1917;p34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9" name="Google Shape;1919;p34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20" name="Google Shape;1920;p34"/>
          <p:cNvGrpSpPr/>
          <p:nvPr/>
        </p:nvGrpSpPr>
        <p:grpSpPr>
          <a:xfrm>
            <a:off x="5131542" y="1921038"/>
            <a:ext cx="1258500" cy="902350"/>
            <a:chOff x="4786850" y="2242475"/>
            <a:chExt cx="1258500" cy="902350"/>
          </a:xfrm>
        </p:grpSpPr>
        <p:sp>
          <p:nvSpPr>
            <p:cNvPr id="1921" name="Google Shape;1921;p34"/>
            <p:cNvSpPr/>
            <p:nvPr/>
          </p:nvSpPr>
          <p:spPr>
            <a:xfrm>
              <a:off x="48079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47868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3" name="Google Shape;1923;p34"/>
            <p:cNvCxnSpPr/>
            <p:nvPr/>
          </p:nvCxnSpPr>
          <p:spPr>
            <a:xfrm>
              <a:off x="47876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35"/>
          <p:cNvSpPr/>
          <p:nvPr/>
        </p:nvSpPr>
        <p:spPr>
          <a:xfrm>
            <a:off x="-120025" y="222875"/>
            <a:ext cx="9361200" cy="4920600"/>
          </a:xfrm>
          <a:prstGeom prst="roundRect">
            <a:avLst>
              <a:gd fmla="val 4803" name="adj"/>
            </a:avLst>
          </a:prstGeom>
          <a:solidFill>
            <a:srgbClr val="666666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35"/>
          <p:cNvSpPr txBox="1"/>
          <p:nvPr>
            <p:ph type="title"/>
          </p:nvPr>
        </p:nvSpPr>
        <p:spPr>
          <a:xfrm>
            <a:off x="228650" y="-65975"/>
            <a:ext cx="38061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Pipeline</a:t>
            </a:r>
            <a:endParaRPr sz="1500"/>
          </a:p>
        </p:txBody>
      </p:sp>
      <p:pic>
        <p:nvPicPr>
          <p:cNvPr id="1930" name="Google Shape;1930;p35"/>
          <p:cNvPicPr preferRelativeResize="0"/>
          <p:nvPr/>
        </p:nvPicPr>
        <p:blipFill rotWithShape="1">
          <a:blip r:embed="rId3">
            <a:alphaModFix/>
          </a:blip>
          <a:srcRect b="0" l="-2940" r="2939" t="0"/>
          <a:stretch/>
        </p:blipFill>
        <p:spPr>
          <a:xfrm>
            <a:off x="2014550" y="313450"/>
            <a:ext cx="4749150" cy="477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36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System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36"/>
          <p:cNvSpPr/>
          <p:nvPr/>
        </p:nvSpPr>
        <p:spPr>
          <a:xfrm>
            <a:off x="167325" y="360050"/>
            <a:ext cx="8756700" cy="47835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7" name="Google Shape;1937;p36"/>
          <p:cNvPicPr preferRelativeResize="0"/>
          <p:nvPr/>
        </p:nvPicPr>
        <p:blipFill rotWithShape="1">
          <a:blip r:embed="rId3">
            <a:alphaModFix/>
          </a:blip>
          <a:srcRect b="10136" l="0" r="0" t="0"/>
          <a:stretch/>
        </p:blipFill>
        <p:spPr>
          <a:xfrm>
            <a:off x="659700" y="407150"/>
            <a:ext cx="4243774" cy="46220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</p:pic>
      <p:pic>
        <p:nvPicPr>
          <p:cNvPr id="1938" name="Google Shape;1938;p36"/>
          <p:cNvPicPr preferRelativeResize="0"/>
          <p:nvPr/>
        </p:nvPicPr>
        <p:blipFill rotWithShape="1">
          <a:blip r:embed="rId4">
            <a:alphaModFix/>
          </a:blip>
          <a:srcRect b="4150" l="0" r="0" t="0"/>
          <a:stretch/>
        </p:blipFill>
        <p:spPr>
          <a:xfrm>
            <a:off x="5293350" y="399325"/>
            <a:ext cx="3277325" cy="463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9" name="Google Shape;1939;p36"/>
          <p:cNvGrpSpPr/>
          <p:nvPr/>
        </p:nvGrpSpPr>
        <p:grpSpPr>
          <a:xfrm>
            <a:off x="209600" y="407154"/>
            <a:ext cx="450098" cy="116725"/>
            <a:chOff x="411700" y="2420932"/>
            <a:chExt cx="277873" cy="68400"/>
          </a:xfrm>
        </p:grpSpPr>
        <p:sp>
          <p:nvSpPr>
            <p:cNvPr id="1940" name="Google Shape;1940;p3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  <p:sp>
          <p:nvSpPr>
            <p:cNvPr id="1941" name="Google Shape;1941;p3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  <p:sp>
          <p:nvSpPr>
            <p:cNvPr id="1942" name="Google Shape;1942;p3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37"/>
          <p:cNvSpPr/>
          <p:nvPr/>
        </p:nvSpPr>
        <p:spPr>
          <a:xfrm>
            <a:off x="4810075" y="2035953"/>
            <a:ext cx="4059600" cy="1071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8" name="Google Shape;1948;p37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1949" name="Google Shape;1949;p3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2" name="Google Shape;1952;p37"/>
          <p:cNvSpPr txBox="1"/>
          <p:nvPr>
            <p:ph idx="2" type="body"/>
          </p:nvPr>
        </p:nvSpPr>
        <p:spPr>
          <a:xfrm>
            <a:off x="167225" y="-98150"/>
            <a:ext cx="40854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/>
              <a:t>System Generation - Main System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953" name="Google Shape;1953;p37"/>
          <p:cNvSpPr txBox="1"/>
          <p:nvPr>
            <p:ph idx="4" type="subTitle"/>
          </p:nvPr>
        </p:nvSpPr>
        <p:spPr>
          <a:xfrm>
            <a:off x="4971775" y="2202300"/>
            <a:ext cx="37362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Main System - 60 + Components and 100 + Edges -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Trained GCN will predict risk labels for this system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54" name="Google Shape;1954;p37"/>
          <p:cNvSpPr/>
          <p:nvPr/>
        </p:nvSpPr>
        <p:spPr>
          <a:xfrm>
            <a:off x="440825" y="360050"/>
            <a:ext cx="38118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5" name="Google Shape;19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48" y="580475"/>
            <a:ext cx="3299959" cy="435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6" name="Google Shape;1956;p37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1957" name="Google Shape;1957;p3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38"/>
          <p:cNvSpPr/>
          <p:nvPr/>
        </p:nvSpPr>
        <p:spPr>
          <a:xfrm>
            <a:off x="4810075" y="2035953"/>
            <a:ext cx="4059600" cy="1071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5" name="Google Shape;1965;p38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1966" name="Google Shape;1966;p3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9" name="Google Shape;1969;p38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Parsing and CSV Extraction</a:t>
            </a:r>
            <a:endParaRPr sz="1300"/>
          </a:p>
        </p:txBody>
      </p:sp>
      <p:sp>
        <p:nvSpPr>
          <p:cNvPr id="1970" name="Google Shape;1970;p38"/>
          <p:cNvSpPr txBox="1"/>
          <p:nvPr>
            <p:ph idx="4" type="subTitle"/>
          </p:nvPr>
        </p:nvSpPr>
        <p:spPr>
          <a:xfrm>
            <a:off x="4971775" y="2202300"/>
            <a:ext cx="37362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Components.csv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Each row represents a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71" name="Google Shape;1971;p38"/>
          <p:cNvSpPr/>
          <p:nvPr/>
        </p:nvSpPr>
        <p:spPr>
          <a:xfrm>
            <a:off x="440825" y="360050"/>
            <a:ext cx="38118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2" name="Google Shape;1972;p38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1973" name="Google Shape;1973;p3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76" name="Google Shape;19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50" y="614875"/>
            <a:ext cx="3162350" cy="40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39"/>
          <p:cNvSpPr/>
          <p:nvPr/>
        </p:nvSpPr>
        <p:spPr>
          <a:xfrm>
            <a:off x="5084400" y="2035953"/>
            <a:ext cx="4059600" cy="1071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39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Parsing and CSV Extraction</a:t>
            </a:r>
            <a:endParaRPr sz="1300"/>
          </a:p>
        </p:txBody>
      </p:sp>
      <p:sp>
        <p:nvSpPr>
          <p:cNvPr id="1983" name="Google Shape;1983;p39"/>
          <p:cNvSpPr txBox="1"/>
          <p:nvPr>
            <p:ph idx="4" type="subTitle"/>
          </p:nvPr>
        </p:nvSpPr>
        <p:spPr>
          <a:xfrm>
            <a:off x="4971775" y="2202300"/>
            <a:ext cx="3736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   Edges.csv -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Each row represents a direct relation between 2 components (nodes)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84" name="Google Shape;1984;p39"/>
          <p:cNvSpPr/>
          <p:nvPr/>
        </p:nvSpPr>
        <p:spPr>
          <a:xfrm>
            <a:off x="167225" y="360050"/>
            <a:ext cx="48045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39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1986" name="Google Shape;1986;p3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89" name="Google Shape;1989;p39"/>
          <p:cNvPicPr preferRelativeResize="0"/>
          <p:nvPr/>
        </p:nvPicPr>
        <p:blipFill rotWithShape="1">
          <a:blip r:embed="rId3">
            <a:alphaModFix/>
          </a:blip>
          <a:srcRect b="-5626" l="0" r="0" t="-3627"/>
          <a:stretch/>
        </p:blipFill>
        <p:spPr>
          <a:xfrm>
            <a:off x="385750" y="614875"/>
            <a:ext cx="4380550" cy="423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0" name="Google Shape;1990;p39"/>
          <p:cNvGrpSpPr/>
          <p:nvPr/>
        </p:nvGrpSpPr>
        <p:grpSpPr>
          <a:xfrm flipH="1" rot="10800000">
            <a:off x="5212297" y="2081320"/>
            <a:ext cx="277873" cy="72053"/>
            <a:chOff x="411700" y="2420932"/>
            <a:chExt cx="277873" cy="68400"/>
          </a:xfrm>
        </p:grpSpPr>
        <p:sp>
          <p:nvSpPr>
            <p:cNvPr id="1991" name="Google Shape;1991;p3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40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40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Graph Construction and Feature Engineering</a:t>
            </a:r>
            <a:endParaRPr sz="1300"/>
          </a:p>
        </p:txBody>
      </p:sp>
      <p:sp>
        <p:nvSpPr>
          <p:cNvPr id="2000" name="Google Shape;2000;p40"/>
          <p:cNvSpPr txBox="1"/>
          <p:nvPr>
            <p:ph idx="4" type="subTitle"/>
          </p:nvPr>
        </p:nvSpPr>
        <p:spPr>
          <a:xfrm>
            <a:off x="190850" y="817050"/>
            <a:ext cx="8688000" cy="3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Degree-Based Metrics - Help identify how “busy” or central a component is in terms of direct connections.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In-Degree — number of incoming dependencies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Out-Degree — number of outgoing dependencies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Degree — overall connectivity of the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Centrality Measures - Capture how influential a component is in the overall flow of the system.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Centrality — how often a node lies on shortest paths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Closeness Centrality — how close a node is to al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 Centrality — influence based on connections to other important nodes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PageRank — probability of arriving at a node via random traversal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Reachability Metrics - Describe how failures propagate through the graph.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Downstream Count — number of components that depend (directly or indirectly) on this node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Upstream Count — number of components this node depends 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Structural Criticality (Articulation Points) -Highlights nodes whose removal would break the system’s connectivity.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Articulation Status — whether the node disconnects parts of the graph if removed</a:t>
            </a:r>
            <a:endParaRPr/>
          </a:p>
        </p:txBody>
      </p:sp>
      <p:grpSp>
        <p:nvGrpSpPr>
          <p:cNvPr id="2001" name="Google Shape;2001;p40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002" name="Google Shape;2002;p40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03" name="Google Shape;2003;p40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04" name="Google Shape;2004;p40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41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41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Heuristic Risk Labelling</a:t>
            </a:r>
            <a:endParaRPr sz="1300"/>
          </a:p>
        </p:txBody>
      </p:sp>
      <p:sp>
        <p:nvSpPr>
          <p:cNvPr id="2011" name="Google Shape;2011;p41"/>
          <p:cNvSpPr txBox="1"/>
          <p:nvPr>
            <p:ph idx="4" type="subTitle"/>
          </p:nvPr>
        </p:nvSpPr>
        <p:spPr>
          <a:xfrm>
            <a:off x="190850" y="1187400"/>
            <a:ext cx="86880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Score Formula :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importance_score=0.4(degree)+0.4(betweenness)+0.4(downstream)+0.2(articulation)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captures :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Local connectivity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Global influence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Blast radius (failure spread)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Structural criticality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Class Assignment :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Compute 33% and 66% quantile</a:t>
            </a:r>
            <a:r>
              <a:rPr lang="en"/>
              <a:t>s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</a:t>
            </a:r>
            <a:r>
              <a:rPr lang="en"/>
              <a:t>igh risk: score ≥ q_high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Low risk: score ≤ q_low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Medium risk: everything in between</a:t>
            </a:r>
            <a:endParaRPr/>
          </a:p>
        </p:txBody>
      </p:sp>
      <p:grpSp>
        <p:nvGrpSpPr>
          <p:cNvPr id="2012" name="Google Shape;2012;p41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013" name="Google Shape;2013;p41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14" name="Google Shape;2014;p41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42"/>
          <p:cNvSpPr txBox="1"/>
          <p:nvPr>
            <p:ph idx="2" type="body"/>
          </p:nvPr>
        </p:nvSpPr>
        <p:spPr>
          <a:xfrm>
            <a:off x="209600" y="-61125"/>
            <a:ext cx="18387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/>
              <a:t>Node Features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021" name="Google Shape;2021;p42"/>
          <p:cNvSpPr/>
          <p:nvPr/>
        </p:nvSpPr>
        <p:spPr>
          <a:xfrm>
            <a:off x="167325" y="360050"/>
            <a:ext cx="8756700" cy="47835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2" name="Google Shape;2022;p42"/>
          <p:cNvGrpSpPr/>
          <p:nvPr/>
        </p:nvGrpSpPr>
        <p:grpSpPr>
          <a:xfrm>
            <a:off x="209600" y="407154"/>
            <a:ext cx="450098" cy="116725"/>
            <a:chOff x="411700" y="2420932"/>
            <a:chExt cx="277873" cy="68400"/>
          </a:xfrm>
        </p:grpSpPr>
        <p:sp>
          <p:nvSpPr>
            <p:cNvPr id="2023" name="Google Shape;2023;p42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  <p:sp>
          <p:nvSpPr>
            <p:cNvPr id="2024" name="Google Shape;2024;p42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  <p:sp>
          <p:nvSpPr>
            <p:cNvPr id="2025" name="Google Shape;2025;p42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48100" lIns="148100" spcFirstLastPara="1" rIns="148100" wrap="square" tIns="14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67"/>
            </a:p>
          </p:txBody>
        </p:sp>
      </p:grpSp>
      <p:pic>
        <p:nvPicPr>
          <p:cNvPr id="2026" name="Google Shape;202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391500"/>
            <a:ext cx="5943600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43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43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GNN Architecture and Training Setup</a:t>
            </a:r>
            <a:endParaRPr sz="1300"/>
          </a:p>
        </p:txBody>
      </p:sp>
      <p:sp>
        <p:nvSpPr>
          <p:cNvPr id="2033" name="Google Shape;2033;p43"/>
          <p:cNvSpPr txBox="1"/>
          <p:nvPr>
            <p:ph idx="4" type="subTitle"/>
          </p:nvPr>
        </p:nvSpPr>
        <p:spPr>
          <a:xfrm>
            <a:off x="190850" y="1187400"/>
            <a:ext cx="86880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RiskGCN Model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2× GCNConv layers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ReLU activations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Final Linear classifier → 3 risk classes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Strategy -</a:t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System-level split: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8 systems for training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4 unseen systems for validation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Optimization: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200 epochs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Adam (LR = 5e-3, weight decay = 5e-4)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Cross-entropy loss over all nodes</a:t>
            </a:r>
            <a:endParaRPr/>
          </a:p>
        </p:txBody>
      </p:sp>
      <p:grpSp>
        <p:nvGrpSpPr>
          <p:cNvPr id="2034" name="Google Shape;2034;p43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035" name="Google Shape;2035;p43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44"/>
          <p:cNvSpPr/>
          <p:nvPr/>
        </p:nvSpPr>
        <p:spPr>
          <a:xfrm>
            <a:off x="6360800" y="1915950"/>
            <a:ext cx="2783400" cy="20445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3" name="Google Shape;2043;p44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2044" name="Google Shape;2044;p44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4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4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7" name="Google Shape;2047;p44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Training and Validation Results</a:t>
            </a:r>
            <a:endParaRPr sz="1300"/>
          </a:p>
        </p:txBody>
      </p:sp>
      <p:sp>
        <p:nvSpPr>
          <p:cNvPr id="2048" name="Google Shape;2048;p44"/>
          <p:cNvSpPr txBox="1"/>
          <p:nvPr>
            <p:ph idx="4" type="subTitle"/>
          </p:nvPr>
        </p:nvSpPr>
        <p:spPr>
          <a:xfrm>
            <a:off x="6360800" y="2199450"/>
            <a:ext cx="27834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loss decreases steadily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accuracy reaches 82 %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accuracy stabilizes around 45-52%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049" name="Google Shape;2049;p44"/>
          <p:cNvSpPr/>
          <p:nvPr/>
        </p:nvSpPr>
        <p:spPr>
          <a:xfrm>
            <a:off x="440825" y="360050"/>
            <a:ext cx="58599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0" name="Google Shape;2050;p44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2051" name="Google Shape;2051;p44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4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4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54" name="Google Shape;20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63" y="1485900"/>
            <a:ext cx="5610225" cy="26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5" name="Google Shape;2055;p44"/>
          <p:cNvGrpSpPr/>
          <p:nvPr/>
        </p:nvGrpSpPr>
        <p:grpSpPr>
          <a:xfrm>
            <a:off x="6360786" y="1915901"/>
            <a:ext cx="413141" cy="107149"/>
            <a:chOff x="411700" y="2420932"/>
            <a:chExt cx="277873" cy="68400"/>
          </a:xfrm>
        </p:grpSpPr>
        <p:sp>
          <p:nvSpPr>
            <p:cNvPr id="2056" name="Google Shape;2056;p44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57" name="Google Shape;2057;p44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58" name="Google Shape;2058;p44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45"/>
          <p:cNvSpPr/>
          <p:nvPr/>
        </p:nvSpPr>
        <p:spPr>
          <a:xfrm>
            <a:off x="6360800" y="1915950"/>
            <a:ext cx="2783400" cy="20445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4" name="Google Shape;2064;p45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2065" name="Google Shape;2065;p4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8" name="Google Shape;2068;p45"/>
          <p:cNvSpPr txBox="1"/>
          <p:nvPr>
            <p:ph idx="2" type="body"/>
          </p:nvPr>
        </p:nvSpPr>
        <p:spPr>
          <a:xfrm>
            <a:off x="167225" y="-98150"/>
            <a:ext cx="40854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Results - Visualisations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069" name="Google Shape;2069;p45"/>
          <p:cNvSpPr txBox="1"/>
          <p:nvPr>
            <p:ph idx="4" type="subTitle"/>
          </p:nvPr>
        </p:nvSpPr>
        <p:spPr>
          <a:xfrm>
            <a:off x="6360800" y="2568750"/>
            <a:ext cx="278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labels on payment gateway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070" name="Google Shape;2070;p45"/>
          <p:cNvSpPr/>
          <p:nvPr/>
        </p:nvSpPr>
        <p:spPr>
          <a:xfrm>
            <a:off x="440825" y="360050"/>
            <a:ext cx="58599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1" name="Google Shape;2071;p45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2072" name="Google Shape;2072;p4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5" name="Google Shape;2075;p45"/>
          <p:cNvGrpSpPr/>
          <p:nvPr/>
        </p:nvGrpSpPr>
        <p:grpSpPr>
          <a:xfrm>
            <a:off x="6360786" y="1915901"/>
            <a:ext cx="413141" cy="107149"/>
            <a:chOff x="411700" y="2420932"/>
            <a:chExt cx="277873" cy="68400"/>
          </a:xfrm>
        </p:grpSpPr>
        <p:sp>
          <p:nvSpPr>
            <p:cNvPr id="2076" name="Google Shape;2076;p4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</p:grpSp>
      <p:pic>
        <p:nvPicPr>
          <p:cNvPr id="2079" name="Google Shape;20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400" y="486850"/>
            <a:ext cx="4817750" cy="44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46"/>
          <p:cNvSpPr/>
          <p:nvPr/>
        </p:nvSpPr>
        <p:spPr>
          <a:xfrm>
            <a:off x="6360800" y="1915950"/>
            <a:ext cx="2783400" cy="20445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5" name="Google Shape;2085;p46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2086" name="Google Shape;2086;p4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9" name="Google Shape;2089;p46"/>
          <p:cNvSpPr txBox="1"/>
          <p:nvPr>
            <p:ph idx="2" type="body"/>
          </p:nvPr>
        </p:nvSpPr>
        <p:spPr>
          <a:xfrm>
            <a:off x="167225" y="-98150"/>
            <a:ext cx="40854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Results - Visualisations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090" name="Google Shape;2090;p46"/>
          <p:cNvSpPr txBox="1"/>
          <p:nvPr>
            <p:ph idx="4" type="subTitle"/>
          </p:nvPr>
        </p:nvSpPr>
        <p:spPr>
          <a:xfrm>
            <a:off x="6360800" y="2568750"/>
            <a:ext cx="278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labels on notification service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091" name="Google Shape;2091;p46"/>
          <p:cNvSpPr/>
          <p:nvPr/>
        </p:nvSpPr>
        <p:spPr>
          <a:xfrm>
            <a:off x="440825" y="360050"/>
            <a:ext cx="58599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2" name="Google Shape;2092;p46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2093" name="Google Shape;2093;p4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6" name="Google Shape;2096;p46"/>
          <p:cNvGrpSpPr/>
          <p:nvPr/>
        </p:nvGrpSpPr>
        <p:grpSpPr>
          <a:xfrm>
            <a:off x="6360786" y="1915901"/>
            <a:ext cx="413141" cy="107149"/>
            <a:chOff x="411700" y="2420932"/>
            <a:chExt cx="277873" cy="68400"/>
          </a:xfrm>
        </p:grpSpPr>
        <p:sp>
          <p:nvSpPr>
            <p:cNvPr id="2097" name="Google Shape;2097;p4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98" name="Google Shape;2098;p4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</p:grpSp>
      <p:pic>
        <p:nvPicPr>
          <p:cNvPr id="2100" name="Google Shape;21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475" y="603600"/>
            <a:ext cx="4669200" cy="435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47"/>
          <p:cNvSpPr/>
          <p:nvPr/>
        </p:nvSpPr>
        <p:spPr>
          <a:xfrm>
            <a:off x="6360800" y="1915950"/>
            <a:ext cx="2783400" cy="20445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6" name="Google Shape;2106;p47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2107" name="Google Shape;2107;p4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0" name="Google Shape;2110;p47"/>
          <p:cNvSpPr txBox="1"/>
          <p:nvPr>
            <p:ph idx="2" type="body"/>
          </p:nvPr>
        </p:nvSpPr>
        <p:spPr>
          <a:xfrm>
            <a:off x="167225" y="-98150"/>
            <a:ext cx="40854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Results - Visualisations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111" name="Google Shape;2111;p47"/>
          <p:cNvSpPr txBox="1"/>
          <p:nvPr>
            <p:ph idx="4" type="subTitle"/>
          </p:nvPr>
        </p:nvSpPr>
        <p:spPr>
          <a:xfrm>
            <a:off x="6360800" y="2568750"/>
            <a:ext cx="278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labels on the main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Too many high risk nodes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112" name="Google Shape;2112;p47"/>
          <p:cNvSpPr/>
          <p:nvPr/>
        </p:nvSpPr>
        <p:spPr>
          <a:xfrm>
            <a:off x="440825" y="360050"/>
            <a:ext cx="58599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3" name="Google Shape;2113;p47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2114" name="Google Shape;2114;p4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7" name="Google Shape;2117;p47"/>
          <p:cNvGrpSpPr/>
          <p:nvPr/>
        </p:nvGrpSpPr>
        <p:grpSpPr>
          <a:xfrm>
            <a:off x="6360786" y="1915901"/>
            <a:ext cx="413141" cy="107149"/>
            <a:chOff x="411700" y="2420932"/>
            <a:chExt cx="277873" cy="68400"/>
          </a:xfrm>
        </p:grpSpPr>
        <p:sp>
          <p:nvSpPr>
            <p:cNvPr id="2118" name="Google Shape;2118;p4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119" name="Google Shape;2119;p4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120" name="Google Shape;2120;p4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</p:grpSp>
      <p:pic>
        <p:nvPicPr>
          <p:cNvPr id="2121" name="Google Shape;21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37" y="407438"/>
            <a:ext cx="5248275" cy="45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48"/>
          <p:cNvSpPr/>
          <p:nvPr/>
        </p:nvSpPr>
        <p:spPr>
          <a:xfrm>
            <a:off x="6360800" y="1915950"/>
            <a:ext cx="2783400" cy="20445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7" name="Google Shape;2127;p48"/>
          <p:cNvGrpSpPr/>
          <p:nvPr/>
        </p:nvGrpSpPr>
        <p:grpSpPr>
          <a:xfrm flipH="1" rot="10800000">
            <a:off x="4869397" y="2081320"/>
            <a:ext cx="277873" cy="72053"/>
            <a:chOff x="411700" y="2420932"/>
            <a:chExt cx="277873" cy="68400"/>
          </a:xfrm>
        </p:grpSpPr>
        <p:sp>
          <p:nvSpPr>
            <p:cNvPr id="2128" name="Google Shape;2128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1" name="Google Shape;2131;p48"/>
          <p:cNvSpPr txBox="1"/>
          <p:nvPr>
            <p:ph idx="2" type="body"/>
          </p:nvPr>
        </p:nvSpPr>
        <p:spPr>
          <a:xfrm>
            <a:off x="167225" y="-98150"/>
            <a:ext cx="40854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Results - Visualisations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132" name="Google Shape;2132;p48"/>
          <p:cNvSpPr txBox="1"/>
          <p:nvPr>
            <p:ph idx="4" type="subTitle"/>
          </p:nvPr>
        </p:nvSpPr>
        <p:spPr>
          <a:xfrm>
            <a:off x="6360800" y="2568750"/>
            <a:ext cx="278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labels on Main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Selective with high risk nodes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133" name="Google Shape;2133;p48"/>
          <p:cNvSpPr/>
          <p:nvPr/>
        </p:nvSpPr>
        <p:spPr>
          <a:xfrm>
            <a:off x="440825" y="360050"/>
            <a:ext cx="5859900" cy="4669200"/>
          </a:xfrm>
          <a:prstGeom prst="roundRect">
            <a:avLst>
              <a:gd fmla="val 628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4" name="Google Shape;2134;p48"/>
          <p:cNvGrpSpPr/>
          <p:nvPr/>
        </p:nvGrpSpPr>
        <p:grpSpPr>
          <a:xfrm>
            <a:off x="492247" y="414787"/>
            <a:ext cx="277873" cy="72053"/>
            <a:chOff x="411700" y="2420932"/>
            <a:chExt cx="277873" cy="68400"/>
          </a:xfrm>
        </p:grpSpPr>
        <p:sp>
          <p:nvSpPr>
            <p:cNvPr id="2135" name="Google Shape;2135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8" name="Google Shape;2138;p48"/>
          <p:cNvGrpSpPr/>
          <p:nvPr/>
        </p:nvGrpSpPr>
        <p:grpSpPr>
          <a:xfrm>
            <a:off x="6360786" y="1915901"/>
            <a:ext cx="413141" cy="107149"/>
            <a:chOff x="411700" y="2420932"/>
            <a:chExt cx="277873" cy="68400"/>
          </a:xfrm>
        </p:grpSpPr>
        <p:sp>
          <p:nvSpPr>
            <p:cNvPr id="2139" name="Google Shape;2139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140" name="Google Shape;2140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  <p:sp>
          <p:nvSpPr>
            <p:cNvPr id="2141" name="Google Shape;2141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35925" lIns="135925" spcFirstLastPara="1" rIns="135925" wrap="square" tIns="13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81"/>
            </a:p>
          </p:txBody>
        </p:sp>
      </p:grpSp>
      <p:pic>
        <p:nvPicPr>
          <p:cNvPr id="2142" name="Google Shape;214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50" y="486850"/>
            <a:ext cx="5427351" cy="44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49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49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Results - Comparison</a:t>
            </a:r>
            <a:endParaRPr sz="1300"/>
          </a:p>
        </p:txBody>
      </p:sp>
      <p:sp>
        <p:nvSpPr>
          <p:cNvPr id="2149" name="Google Shape;2149;p49"/>
          <p:cNvSpPr txBox="1"/>
          <p:nvPr>
            <p:ph idx="4" type="subTitle"/>
          </p:nvPr>
        </p:nvSpPr>
        <p:spPr>
          <a:xfrm>
            <a:off x="190850" y="1649100"/>
            <a:ext cx="86880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Heuristic labels are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noisy</a:t>
            </a:r>
            <a:r>
              <a:rPr lang="en"/>
              <a:t>, marking many nodes as high-risk even when their role is minor.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GNN predictions are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more selective</a:t>
            </a:r>
            <a:r>
              <a:rPr lang="en"/>
              <a:t>, highlighting only structurally important components.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Predicted graph looks smoother and more interpretable, with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clearer separation</a:t>
            </a:r>
            <a:r>
              <a:rPr lang="en"/>
              <a:t> between low-, medium-, and high-risk areas.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Model aligns better with system intuition, elevating core services (compute, storage) rather than peripheral ones.</a:t>
            </a:r>
            <a:endParaRPr/>
          </a:p>
        </p:txBody>
      </p:sp>
      <p:grpSp>
        <p:nvGrpSpPr>
          <p:cNvPr id="2150" name="Google Shape;2150;p49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151" name="Google Shape;2151;p4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52" name="Google Shape;2152;p4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53" name="Google Shape;2153;p4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50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50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Results - Future Scope</a:t>
            </a:r>
            <a:endParaRPr sz="1300"/>
          </a:p>
        </p:txBody>
      </p:sp>
      <p:sp>
        <p:nvSpPr>
          <p:cNvPr id="2160" name="Google Shape;2160;p50"/>
          <p:cNvSpPr txBox="1"/>
          <p:nvPr>
            <p:ph idx="4" type="subTitle"/>
          </p:nvPr>
        </p:nvSpPr>
        <p:spPr>
          <a:xfrm>
            <a:off x="190850" y="1587600"/>
            <a:ext cx="8688000" cy="19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Expanding the dataset - more systems, more variation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Including edge features = data flow vs control flow, internal traffic, </a:t>
            </a:r>
            <a:r>
              <a:rPr lang="en"/>
              <a:t>third</a:t>
            </a:r>
            <a:r>
              <a:rPr lang="en"/>
              <a:t> party API calls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Making node features more semantic with semantic categories -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Databases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units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Caches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Messaging layers</a:t>
            </a:r>
            <a:endParaRPr/>
          </a:p>
        </p:txBody>
      </p:sp>
      <p:grpSp>
        <p:nvGrpSpPr>
          <p:cNvPr id="2161" name="Google Shape;2161;p50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162" name="Google Shape;2162;p50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63" name="Google Shape;2163;p50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64" name="Google Shape;2164;p50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51"/>
          <p:cNvSpPr/>
          <p:nvPr/>
        </p:nvSpPr>
        <p:spPr>
          <a:xfrm>
            <a:off x="248600" y="481950"/>
            <a:ext cx="8572500" cy="418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51"/>
          <p:cNvSpPr txBox="1"/>
          <p:nvPr>
            <p:ph idx="2" type="body"/>
          </p:nvPr>
        </p:nvSpPr>
        <p:spPr>
          <a:xfrm>
            <a:off x="167225" y="-98150"/>
            <a:ext cx="4085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Results - Conclusion</a:t>
            </a:r>
            <a:endParaRPr sz="1300"/>
          </a:p>
        </p:txBody>
      </p:sp>
      <p:sp>
        <p:nvSpPr>
          <p:cNvPr id="2171" name="Google Shape;2171;p51"/>
          <p:cNvSpPr txBox="1"/>
          <p:nvPr>
            <p:ph idx="4" type="subTitle"/>
          </p:nvPr>
        </p:nvSpPr>
        <p:spPr>
          <a:xfrm>
            <a:off x="190850" y="1926150"/>
            <a:ext cx="8688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Created a complete end to end pipeline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GNN provided clearer, more </a:t>
            </a:r>
            <a:r>
              <a:rPr lang="en"/>
              <a:t>realistic</a:t>
            </a:r>
            <a:r>
              <a:rPr lang="en"/>
              <a:t> risk assessments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Further improvements in dataset diversity, labelling quality for future scope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2" name="Google Shape;2172;p51"/>
          <p:cNvGrpSpPr/>
          <p:nvPr/>
        </p:nvGrpSpPr>
        <p:grpSpPr>
          <a:xfrm>
            <a:off x="389359" y="551671"/>
            <a:ext cx="484221" cy="125603"/>
            <a:chOff x="411700" y="2420932"/>
            <a:chExt cx="277873" cy="68400"/>
          </a:xfrm>
        </p:grpSpPr>
        <p:sp>
          <p:nvSpPr>
            <p:cNvPr id="2173" name="Google Shape;2173;p51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74" name="Google Shape;2174;p51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2175" name="Google Shape;2175;p51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59325" lIns="159325" spcFirstLastPara="1" rIns="159325" wrap="square" tIns="1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52"/>
          <p:cNvSpPr txBox="1"/>
          <p:nvPr>
            <p:ph type="title"/>
          </p:nvPr>
        </p:nvSpPr>
        <p:spPr>
          <a:xfrm>
            <a:off x="0" y="1086025"/>
            <a:ext cx="9066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THANK YOU !</a:t>
            </a:r>
            <a:endParaRPr sz="3000"/>
          </a:p>
        </p:txBody>
      </p:sp>
      <p:sp>
        <p:nvSpPr>
          <p:cNvPr id="2181" name="Google Shape;2181;p52"/>
          <p:cNvSpPr txBox="1"/>
          <p:nvPr>
            <p:ph idx="3" type="body"/>
          </p:nvPr>
        </p:nvSpPr>
        <p:spPr>
          <a:xfrm>
            <a:off x="167325" y="-39600"/>
            <a:ext cx="16071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- Gunjan Rawat</a:t>
            </a:r>
            <a:endParaRPr/>
          </a:p>
        </p:txBody>
      </p:sp>
      <p:grpSp>
        <p:nvGrpSpPr>
          <p:cNvPr id="2182" name="Google Shape;2182;p52"/>
          <p:cNvGrpSpPr/>
          <p:nvPr/>
        </p:nvGrpSpPr>
        <p:grpSpPr>
          <a:xfrm>
            <a:off x="1966534" y="2571650"/>
            <a:ext cx="5210945" cy="2242155"/>
            <a:chOff x="2267909" y="2831175"/>
            <a:chExt cx="4608193" cy="1982804"/>
          </a:xfrm>
        </p:grpSpPr>
        <p:grpSp>
          <p:nvGrpSpPr>
            <p:cNvPr id="2183" name="Google Shape;2183;p52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184" name="Google Shape;2184;p52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5" name="Google Shape;2185;p52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6" name="Google Shape;2186;p52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7" name="Google Shape;2187;p52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8" name="Google Shape;2188;p52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9" name="Google Shape;2189;p52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0" name="Google Shape;2190;p52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1" name="Google Shape;2191;p52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2" name="Google Shape;2192;p52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3" name="Google Shape;2193;p52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4" name="Google Shape;2194;p52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5" name="Google Shape;2195;p52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6" name="Google Shape;2196;p52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7" name="Google Shape;2197;p52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8" name="Google Shape;2198;p52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9" name="Google Shape;2199;p52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0" name="Google Shape;2200;p52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1" name="Google Shape;2201;p52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2" name="Google Shape;2202;p52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3" name="Google Shape;2203;p52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4" name="Google Shape;2204;p52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5" name="Google Shape;2205;p52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6" name="Google Shape;2206;p52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7" name="Google Shape;2207;p52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8" name="Google Shape;2208;p52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9" name="Google Shape;2209;p52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210" name="Google Shape;2210;p52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1" name="Google Shape;2211;p52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2" name="Google Shape;2212;p52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2213" name="Google Shape;22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450" y="2076054"/>
            <a:ext cx="6455101" cy="278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